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7"/>
  </p:notesMasterIdLst>
  <p:handoutMasterIdLst>
    <p:handoutMasterId r:id="rId18"/>
  </p:handoutMasterIdLst>
  <p:sldIdLst>
    <p:sldId id="256" r:id="rId5"/>
    <p:sldId id="257" r:id="rId6"/>
    <p:sldId id="269" r:id="rId7"/>
    <p:sldId id="270" r:id="rId8"/>
    <p:sldId id="271" r:id="rId9"/>
    <p:sldId id="272" r:id="rId10"/>
    <p:sldId id="273" r:id="rId11"/>
    <p:sldId id="274" r:id="rId12"/>
    <p:sldId id="275" r:id="rId13"/>
    <p:sldId id="276" r:id="rId14"/>
    <p:sldId id="278" r:id="rId15"/>
    <p:sldId id="268" r:id="rId16"/>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15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5/16/2026</a:t>
            </a:fld>
            <a:endParaRPr lang="en-US"/>
          </a:p>
        </p:txBody>
      </p:sp>
      <p:sp>
        <p:nvSpPr>
          <p:cNvPr id="4" name="Footer Placeholder 3">
            <a:extLst>
              <a:ext uri="{FF2B5EF4-FFF2-40B4-BE49-F238E27FC236}">
                <a16:creationId xmlns:a16="http://schemas.microsoft.com/office/drawing/2014/main" xmlns=""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xmlns=""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5/16/2026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xmlns=""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smtClean="0">
                <a:latin typeface="Times New Roman" panose="02020603050405020304" pitchFamily="18" charset="0"/>
                <a:ea typeface="Calibri" panose="020F0502020204030204" pitchFamily="34" charset="0"/>
                <a:cs typeface="Times New Roman" panose="02020603050405020304" pitchFamily="18" charset="0"/>
              </a:rPr>
              <a:t>CO-OP Project at </a:t>
            </a:r>
            <a:r>
              <a:rPr lang="en-US" b="1" dirty="0">
                <a:latin typeface="Times New Roman" panose="02020603050405020304" pitchFamily="18" charset="0"/>
                <a:ea typeface="Calibri" panose="020F0502020204030204" pitchFamily="34" charset="0"/>
                <a:cs typeface="Times New Roman" panose="02020603050405020304" pitchFamily="18" charset="0"/>
              </a:rPr>
              <a:t>Industry (Module-2) </a:t>
            </a:r>
            <a:r>
              <a:rPr lang="en-IN" b="1" dirty="0" smtClean="0">
                <a:latin typeface="Times New Roman" panose="02020603050405020304" pitchFamily="18" charset="0"/>
                <a:ea typeface="Calibri" panose="020F0502020204030204" pitchFamily="34" charset="0"/>
                <a:cs typeface="Times New Roman" panose="02020603050405020304" pitchFamily="18" charset="0"/>
              </a:rPr>
              <a:t>(22CS421)</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800" dirty="0" err="1" smtClean="0">
                <a:latin typeface="Times New Roman" panose="02020603050405020304" pitchFamily="18" charset="0"/>
                <a:ea typeface="Calibri" panose="020F0502020204030204" pitchFamily="34" charset="0"/>
                <a:cs typeface="Times New Roman" panose="02020603050405020304" pitchFamily="18" charset="0"/>
              </a:rPr>
              <a:t>Bartr</a:t>
            </a:r>
            <a:r>
              <a:rPr lang="en-US" sz="48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smtClean="0">
                <a:latin typeface="Times New Roman" panose="02020603050405020304" pitchFamily="18" charset="0"/>
                <a:ea typeface="Calibri" panose="020F0502020204030204" pitchFamily="34" charset="0"/>
                <a:cs typeface="Times New Roman" panose="02020603050405020304" pitchFamily="18" charset="0"/>
              </a:rPr>
              <a:t>Give.Get.Go</a:t>
            </a: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b="0" strike="noStrike" spc="-1" dirty="0" smtClean="0">
                <a:solidFill>
                  <a:srgbClr val="000000"/>
                </a:solidFill>
                <a:latin typeface="Times New Roman" panose="02020603050405020304" pitchFamily="18" charset="0"/>
                <a:ea typeface="MS PGothic"/>
                <a:cs typeface="Times New Roman" panose="02020603050405020304" pitchFamily="18" charset="0"/>
              </a:rPr>
              <a:t>Ayush Gupta</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b="0" strike="noStrike" spc="-1" dirty="0" smtClean="0">
                <a:solidFill>
                  <a:srgbClr val="000000"/>
                </a:solidFill>
                <a:latin typeface="Times New Roman" panose="02020603050405020304" pitchFamily="18" charset="0"/>
                <a:ea typeface="MS PGothic"/>
                <a:cs typeface="Times New Roman" panose="02020603050405020304" pitchFamily="18" charset="0"/>
              </a:rPr>
              <a:t>2210991424</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smtClean="0">
                <a:solidFill>
                  <a:srgbClr val="000000"/>
                </a:solidFill>
                <a:latin typeface="Times New Roman" panose="02020603050405020304" pitchFamily="18" charset="0"/>
                <a:ea typeface="MS PGothic"/>
                <a:cs typeface="Times New Roman" panose="02020603050405020304" pitchFamily="18" charset="0"/>
              </a:rPr>
              <a:t>Dr. </a:t>
            </a:r>
            <a:r>
              <a:rPr lang="en-US" sz="2000" b="0" strike="noStrike" spc="-1" dirty="0" err="1" smtClean="0">
                <a:solidFill>
                  <a:srgbClr val="000000"/>
                </a:solidFill>
                <a:latin typeface="Times New Roman" panose="02020603050405020304" pitchFamily="18" charset="0"/>
                <a:ea typeface="MS PGothic"/>
                <a:cs typeface="Times New Roman" panose="02020603050405020304" pitchFamily="18" charset="0"/>
              </a:rPr>
              <a:t>Preeti</a:t>
            </a:r>
            <a:r>
              <a:rPr lang="en-US" sz="2000" b="0" strike="noStrike" spc="-1" dirty="0" smtClean="0">
                <a:solidFill>
                  <a:srgbClr val="000000"/>
                </a:solidFill>
                <a:latin typeface="Times New Roman" panose="02020603050405020304" pitchFamily="18" charset="0"/>
                <a:ea typeface="MS PGothic"/>
                <a:cs typeface="Times New Roman" panose="02020603050405020304" pitchFamily="18" charset="0"/>
              </a:rPr>
              <a:t> </a:t>
            </a:r>
            <a:r>
              <a:rPr lang="en-US" sz="2000" b="0" strike="noStrike" spc="-1" dirty="0" err="1" smtClean="0">
                <a:solidFill>
                  <a:srgbClr val="000000"/>
                </a:solidFill>
                <a:latin typeface="Times New Roman" panose="02020603050405020304" pitchFamily="18" charset="0"/>
                <a:ea typeface="MS PGothic"/>
                <a:cs typeface="Times New Roman" panose="02020603050405020304" pitchFamily="18" charset="0"/>
              </a:rPr>
              <a:t>Saini</a:t>
            </a:r>
            <a:endParaRPr lang="en-US" sz="2000" b="0" strike="noStrike" spc="-1" dirty="0" smtClean="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700" b="0" strike="noStrike" spc="-1" dirty="0">
              <a:solidFill>
                <a:srgbClr val="000000"/>
              </a:solidFill>
              <a:latin typeface="Times New Roman" pitchFamily="18" charset="0"/>
              <a:cs typeface="Times New Roman" pitchFamily="18" charset="0"/>
            </a:endParaRPr>
          </a:p>
          <a:p>
            <a:r>
              <a:rPr lang="en-IN" sz="1700" dirty="0">
                <a:latin typeface="Times New Roman" pitchFamily="18" charset="0"/>
                <a:cs typeface="Times New Roman" pitchFamily="18" charset="0"/>
              </a:rPr>
              <a:t>In today’s consumer-oriented world, people frequently dispose of usable products when they become unnecessary for personal use. This </a:t>
            </a:r>
            <a:r>
              <a:rPr lang="en-IN" sz="1700" dirty="0" err="1">
                <a:latin typeface="Times New Roman" pitchFamily="18" charset="0"/>
                <a:cs typeface="Times New Roman" pitchFamily="18" charset="0"/>
              </a:rPr>
              <a:t>behavior</a:t>
            </a:r>
            <a:r>
              <a:rPr lang="en-IN" sz="1700" dirty="0">
                <a:latin typeface="Times New Roman" pitchFamily="18" charset="0"/>
                <a:cs typeface="Times New Roman" pitchFamily="18" charset="0"/>
              </a:rPr>
              <a:t> leads to increased environmental waste and inefficient resource utilization. Although online marketplaces have simplified buying and selling, most platforms rely heavily on monetary transactions and do not actively encourage reuse through direct exchange.</a:t>
            </a:r>
          </a:p>
          <a:p>
            <a:r>
              <a:rPr lang="en-IN" sz="1700" dirty="0">
                <a:latin typeface="Times New Roman" pitchFamily="18" charset="0"/>
                <a:cs typeface="Times New Roman" pitchFamily="18" charset="0"/>
              </a:rPr>
              <a:t>The traditional barter system was once an effective method of exchanging goods without money. However, with the growth of modern digital commerce, this concept has gradually disappeared. Reviving the barter system in a digital form can help promote sustainability, reduce waste, and encourage responsible consumption.</a:t>
            </a:r>
          </a:p>
          <a:p>
            <a:r>
              <a:rPr lang="en-IN" sz="1700" dirty="0" err="1">
                <a:latin typeface="Times New Roman" pitchFamily="18" charset="0"/>
                <a:cs typeface="Times New Roman" pitchFamily="18" charset="0"/>
              </a:rPr>
              <a:t>Bartr</a:t>
            </a:r>
            <a:r>
              <a:rPr lang="en-IN" sz="1700" dirty="0">
                <a:latin typeface="Times New Roman" pitchFamily="18" charset="0"/>
                <a:cs typeface="Times New Roman" pitchFamily="18" charset="0"/>
              </a:rPr>
              <a:t> – </a:t>
            </a:r>
            <a:r>
              <a:rPr lang="en-IN" sz="1700" dirty="0" err="1">
                <a:latin typeface="Times New Roman" pitchFamily="18" charset="0"/>
                <a:cs typeface="Times New Roman" pitchFamily="18" charset="0"/>
              </a:rPr>
              <a:t>Give.Get.Go</a:t>
            </a:r>
            <a:r>
              <a:rPr lang="en-IN" sz="1700" dirty="0">
                <a:latin typeface="Times New Roman" pitchFamily="18" charset="0"/>
                <a:cs typeface="Times New Roman" pitchFamily="18" charset="0"/>
              </a:rPr>
              <a:t> is designed as a modern digital barter platform where users can exchange unused items securely and conveniently without involving money. The system focuses on building a community-driven ecosystem that supports reuse and environmental conservation.</a:t>
            </a:r>
          </a:p>
          <a:p>
            <a:pPr>
              <a:lnSpc>
                <a:spcPct val="100000"/>
              </a:lnSpc>
              <a:spcBef>
                <a:spcPts val="400"/>
              </a:spcBef>
            </a:pPr>
            <a:endParaRPr lang="en-US" sz="1700" b="0" strike="noStrike" spc="-1" dirty="0">
              <a:solidFill>
                <a:srgbClr val="000000"/>
              </a:solidFill>
              <a:latin typeface="Times New Roman" pitchFamily="18" charset="0"/>
              <a:cs typeface="Times New Roman" pitchFamily="18" charset="0"/>
            </a:endParaRPr>
          </a:p>
          <a:p>
            <a:pPr>
              <a:lnSpc>
                <a:spcPct val="100000"/>
              </a:lnSpc>
              <a:spcBef>
                <a:spcPts val="400"/>
              </a:spcBef>
            </a:pPr>
            <a:endParaRPr lang="en-US" sz="1700" spc="-1" dirty="0">
              <a:solidFill>
                <a:srgbClr val="000000"/>
              </a:solidFill>
              <a:latin typeface="Times New Roman" pitchFamily="18" charset="0"/>
              <a:cs typeface="Times New Roman" pitchFamily="18" charset="0"/>
            </a:endParaRPr>
          </a:p>
          <a:p>
            <a:pPr>
              <a:lnSpc>
                <a:spcPct val="150000"/>
              </a:lnSpc>
              <a:spcBef>
                <a:spcPts val="400"/>
              </a:spcBef>
            </a:pPr>
            <a:endParaRPr lang="en-US" sz="1700" b="0" strike="noStrike" spc="-1" dirty="0">
              <a:solidFill>
                <a:srgbClr val="000000"/>
              </a:solidFill>
              <a:latin typeface="Times New Roman" pitchFamily="18" charset="0"/>
              <a:cs typeface="Times New Roman" pitchFamily="18" charset="0"/>
            </a:endParaRPr>
          </a:p>
          <a:p>
            <a:pPr>
              <a:lnSpc>
                <a:spcPct val="150000"/>
              </a:lnSpc>
              <a:spcBef>
                <a:spcPts val="400"/>
              </a:spcBef>
            </a:pPr>
            <a:endParaRPr lang="en-US" sz="1700" b="0" strike="noStrike" spc="-1" dirty="0">
              <a:solidFill>
                <a:srgbClr val="000000"/>
              </a:solidFill>
              <a:latin typeface="Times New Roman" pitchFamily="18" charset="0"/>
              <a:cs typeface="Times New Roman" pitchFamily="18" charset="0"/>
            </a:endParaRPr>
          </a:p>
          <a:p>
            <a:pPr>
              <a:lnSpc>
                <a:spcPct val="150000"/>
              </a:lnSpc>
              <a:spcBef>
                <a:spcPts val="400"/>
              </a:spcBef>
            </a:pPr>
            <a:endParaRPr lang="en-US" sz="1700" b="0" strike="noStrike" spc="-1" dirty="0">
              <a:solidFill>
                <a:srgbClr val="000000"/>
              </a:solidFill>
              <a:latin typeface="Times New Roman" pitchFamily="18" charset="0"/>
              <a:cs typeface="Times New Roman" pitchFamily="18" charset="0"/>
            </a:endParaRPr>
          </a:p>
          <a:p>
            <a:pPr>
              <a:lnSpc>
                <a:spcPct val="150000"/>
              </a:lnSpc>
              <a:spcBef>
                <a:spcPts val="400"/>
              </a:spcBef>
            </a:pPr>
            <a:endParaRPr lang="en-US" sz="1700" b="0" strike="noStrike" spc="-1" dirty="0">
              <a:solidFill>
                <a:srgbClr val="000000"/>
              </a:solidFill>
              <a:latin typeface="Times New Roman" pitchFamily="18" charset="0"/>
              <a:cs typeface="Times New Roman" pitchFamily="18" charset="0"/>
            </a:endParaRPr>
          </a:p>
          <a:p>
            <a:pPr>
              <a:lnSpc>
                <a:spcPct val="100000"/>
              </a:lnSpc>
              <a:spcBef>
                <a:spcPts val="400"/>
              </a:spcBef>
            </a:pPr>
            <a:endParaRPr lang="en-US" sz="1700" b="0" strike="noStrike" spc="-1" dirty="0">
              <a:solidFill>
                <a:srgbClr val="000000"/>
              </a:solidFill>
              <a:latin typeface="Times New Roman" pitchFamily="18" charset="0"/>
              <a:cs typeface="Times New Roman" pitchFamily="18" charset="0"/>
            </a:endParaRPr>
          </a:p>
          <a:p>
            <a:pPr>
              <a:lnSpc>
                <a:spcPct val="100000"/>
              </a:lnSpc>
              <a:spcBef>
                <a:spcPts val="400"/>
              </a:spcBef>
            </a:pPr>
            <a:endParaRPr lang="en-US" sz="1700" b="0" strike="noStrike" spc="-1" dirty="0">
              <a:solidFill>
                <a:srgbClr val="000000"/>
              </a:solidFill>
              <a:latin typeface="Times New Roman" pitchFamily="18" charset="0"/>
              <a:cs typeface="Times New Roman" pitchFamily="18" charset="0"/>
            </a:endParaRPr>
          </a:p>
          <a:p>
            <a:pPr>
              <a:lnSpc>
                <a:spcPct val="100000"/>
              </a:lnSpc>
              <a:spcBef>
                <a:spcPts val="400"/>
              </a:spcBef>
            </a:pPr>
            <a:endParaRPr lang="en-US" sz="1700" b="0" strike="noStrike" spc="-1" dirty="0">
              <a:solidFill>
                <a:srgbClr val="000000"/>
              </a:solidFill>
              <a:latin typeface="Times New Roman" pitchFamily="18" charset="0"/>
              <a:cs typeface="Times New Roman" pitchFamily="18" charset="0"/>
            </a:endParaRPr>
          </a:p>
          <a:p>
            <a:pPr>
              <a:lnSpc>
                <a:spcPct val="100000"/>
              </a:lnSpc>
              <a:spcBef>
                <a:spcPts val="400"/>
              </a:spcBef>
            </a:pPr>
            <a:endParaRPr lang="en-US" sz="1700" b="0" strike="noStrike" spc="-1" dirty="0">
              <a:solidFill>
                <a:srgbClr val="000000"/>
              </a:solidFill>
              <a:latin typeface="Times New Roman" pitchFamily="18" charset="0"/>
              <a:cs typeface="Times New Roman" pitchFamily="18" charset="0"/>
            </a:endParaRPr>
          </a:p>
          <a:p>
            <a:pPr>
              <a:lnSpc>
                <a:spcPct val="100000"/>
              </a:lnSpc>
              <a:spcBef>
                <a:spcPts val="400"/>
              </a:spcBef>
            </a:pPr>
            <a:endParaRPr lang="en-US" sz="1700" b="0" strike="noStrike" spc="-1" dirty="0">
              <a:solidFill>
                <a:srgbClr val="000000"/>
              </a:solidFill>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5830" y="0"/>
            <a:ext cx="5486040" cy="914040"/>
          </a:xfrm>
        </p:spPr>
        <p:txBody>
          <a:bodyPr/>
          <a:lstStyle/>
          <a:p>
            <a:pPr algn="ctr"/>
            <a:r>
              <a:rPr lang="en-IN" sz="3200" dirty="0">
                <a:latin typeface="Times New Roman" pitchFamily="18" charset="0"/>
                <a:cs typeface="Times New Roman" pitchFamily="18" charset="0"/>
              </a:rPr>
              <a:t>Problem Background</a:t>
            </a:r>
          </a:p>
        </p:txBody>
      </p:sp>
      <p:sp>
        <p:nvSpPr>
          <p:cNvPr id="3" name="Subtitle 2"/>
          <p:cNvSpPr>
            <a:spLocks noGrp="1"/>
          </p:cNvSpPr>
          <p:nvPr>
            <p:ph type="subTitle"/>
          </p:nvPr>
        </p:nvSpPr>
        <p:spPr>
          <a:xfrm>
            <a:off x="294246" y="1441566"/>
            <a:ext cx="8229240" cy="3977280"/>
          </a:xfrm>
        </p:spPr>
        <p:txBody>
          <a:bodyPr/>
          <a:lstStyle/>
          <a:p>
            <a:pPr marL="0" indent="0">
              <a:buNone/>
            </a:pPr>
            <a:r>
              <a:rPr lang="en-IN" sz="1700" dirty="0">
                <a:latin typeface="Times New Roman" pitchFamily="18" charset="0"/>
                <a:cs typeface="Times New Roman" pitchFamily="18" charset="0"/>
              </a:rPr>
              <a:t>A large number of reusable goods are discarded every day despite remaining functional. Existing e-commerce and second-hand marketplaces primarily support monetary transactions, making sustainable exchange less accessible. The absence of a dedicated and secure digital barter platform creates limitations for individuals who wish to exchange items directly</a:t>
            </a:r>
            <a:r>
              <a:rPr lang="en-IN" sz="1700" dirty="0" smtClean="0">
                <a:latin typeface="Times New Roman" pitchFamily="18" charset="0"/>
                <a:cs typeface="Times New Roman" pitchFamily="18" charset="0"/>
              </a:rPr>
              <a:t>.</a:t>
            </a:r>
          </a:p>
          <a:p>
            <a:pPr marL="0" indent="0">
              <a:buNone/>
            </a:pPr>
            <a:endParaRPr lang="en-IN" sz="1700" dirty="0">
              <a:latin typeface="Times New Roman" pitchFamily="18" charset="0"/>
              <a:cs typeface="Times New Roman" pitchFamily="18" charset="0"/>
            </a:endParaRPr>
          </a:p>
          <a:p>
            <a:pPr marL="0" indent="0">
              <a:buNone/>
            </a:pPr>
            <a:r>
              <a:rPr lang="en-IN" sz="1700" dirty="0">
                <a:latin typeface="Times New Roman" pitchFamily="18" charset="0"/>
                <a:cs typeface="Times New Roman" pitchFamily="18" charset="0"/>
              </a:rPr>
              <a:t>This issue contributes to</a:t>
            </a:r>
            <a:r>
              <a:rPr lang="en-IN" sz="1700" dirty="0" smtClean="0">
                <a:latin typeface="Times New Roman" pitchFamily="18" charset="0"/>
                <a:cs typeface="Times New Roman" pitchFamily="18" charset="0"/>
              </a:rPr>
              <a:t>:</a:t>
            </a:r>
          </a:p>
          <a:p>
            <a:pPr marL="0" indent="0">
              <a:buNone/>
            </a:pPr>
            <a:endParaRPr lang="en-IN" sz="1700" dirty="0">
              <a:latin typeface="Times New Roman" pitchFamily="18" charset="0"/>
              <a:cs typeface="Times New Roman" pitchFamily="18" charset="0"/>
            </a:endParaRPr>
          </a:p>
          <a:p>
            <a:pPr marL="285750" lvl="0" indent="-285750">
              <a:buFont typeface="Arial" pitchFamily="34" charset="0"/>
              <a:buChar char="•"/>
            </a:pPr>
            <a:r>
              <a:rPr lang="en-IN" sz="1700" dirty="0">
                <a:latin typeface="Times New Roman" pitchFamily="18" charset="0"/>
                <a:cs typeface="Times New Roman" pitchFamily="18" charset="0"/>
              </a:rPr>
              <a:t>Increased environmental pollution </a:t>
            </a:r>
          </a:p>
          <a:p>
            <a:pPr marL="285750" lvl="0" indent="-285750">
              <a:buFont typeface="Arial" pitchFamily="34" charset="0"/>
              <a:buChar char="•"/>
            </a:pPr>
            <a:r>
              <a:rPr lang="en-IN" sz="1700" dirty="0">
                <a:latin typeface="Times New Roman" pitchFamily="18" charset="0"/>
                <a:cs typeface="Times New Roman" pitchFamily="18" charset="0"/>
              </a:rPr>
              <a:t>Resource wastage </a:t>
            </a:r>
          </a:p>
          <a:p>
            <a:pPr marL="285750" lvl="0" indent="-285750">
              <a:buFont typeface="Arial" pitchFamily="34" charset="0"/>
              <a:buChar char="•"/>
            </a:pPr>
            <a:r>
              <a:rPr lang="en-IN" sz="1700" dirty="0">
                <a:latin typeface="Times New Roman" pitchFamily="18" charset="0"/>
                <a:cs typeface="Times New Roman" pitchFamily="18" charset="0"/>
              </a:rPr>
              <a:t>Overconsumption </a:t>
            </a:r>
          </a:p>
          <a:p>
            <a:pPr marL="285750" lvl="0" indent="-285750">
              <a:buFont typeface="Arial" pitchFamily="34" charset="0"/>
              <a:buChar char="•"/>
            </a:pPr>
            <a:r>
              <a:rPr lang="en-IN" sz="1700" dirty="0">
                <a:latin typeface="Times New Roman" pitchFamily="18" charset="0"/>
                <a:cs typeface="Times New Roman" pitchFamily="18" charset="0"/>
              </a:rPr>
              <a:t>Lack of sustainable exchange opportunities </a:t>
            </a:r>
          </a:p>
          <a:p>
            <a:pPr marL="285750" lvl="0" indent="-285750">
              <a:buFont typeface="Arial" pitchFamily="34" charset="0"/>
              <a:buChar char="•"/>
            </a:pPr>
            <a:r>
              <a:rPr lang="en-IN" sz="1700" dirty="0">
                <a:latin typeface="Times New Roman" pitchFamily="18" charset="0"/>
                <a:cs typeface="Times New Roman" pitchFamily="18" charset="0"/>
              </a:rPr>
              <a:t>Reduced community-based interactions </a:t>
            </a:r>
            <a:endParaRPr lang="en-IN" sz="1700" dirty="0" smtClean="0">
              <a:latin typeface="Times New Roman" pitchFamily="18" charset="0"/>
              <a:cs typeface="Times New Roman" pitchFamily="18" charset="0"/>
            </a:endParaRPr>
          </a:p>
          <a:p>
            <a:pPr lvl="0"/>
            <a:endParaRPr lang="en-IN" sz="1700" dirty="0" smtClean="0">
              <a:latin typeface="Times New Roman" pitchFamily="18" charset="0"/>
              <a:cs typeface="Times New Roman" pitchFamily="18" charset="0"/>
            </a:endParaRPr>
          </a:p>
          <a:p>
            <a:pPr marL="0" lvl="0" indent="0">
              <a:buNone/>
            </a:pPr>
            <a:r>
              <a:rPr lang="en-IN" sz="1700" dirty="0" smtClean="0">
                <a:latin typeface="Times New Roman" pitchFamily="18" charset="0"/>
                <a:cs typeface="Times New Roman" pitchFamily="18" charset="0"/>
              </a:rPr>
              <a:t>Therefore</a:t>
            </a:r>
            <a:r>
              <a:rPr lang="en-IN" sz="1700" dirty="0">
                <a:latin typeface="Times New Roman" pitchFamily="18" charset="0"/>
                <a:cs typeface="Times New Roman" pitchFamily="18" charset="0"/>
              </a:rPr>
              <a:t>, there is a need for a secure and user-friendly platform that supports direct item exchange while promoting waste reduction and sustainability.</a:t>
            </a:r>
          </a:p>
        </p:txBody>
      </p:sp>
    </p:spTree>
    <p:extLst>
      <p:ext uri="{BB962C8B-B14F-4D97-AF65-F5344CB8AC3E}">
        <p14:creationId xmlns:p14="http://schemas.microsoft.com/office/powerpoint/2010/main" val="726403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itchFamily="18" charset="0"/>
                <a:cs typeface="Times New Roman" pitchFamily="18" charset="0"/>
              </a:rPr>
              <a:t>Objective of the Project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p:cNvSpPr txBox="1"/>
          <p:nvPr/>
        </p:nvSpPr>
        <p:spPr>
          <a:xfrm>
            <a:off x="182114" y="1517127"/>
            <a:ext cx="8838720" cy="4838571"/>
          </a:xfrm>
          <a:prstGeom prst="rect">
            <a:avLst/>
          </a:prstGeom>
          <a:noFill/>
          <a:ln w="9360">
            <a:noFill/>
          </a:ln>
        </p:spPr>
        <p:txBody>
          <a:bodyPr>
            <a:noAutofit/>
          </a:bodyPr>
          <a:lstStyle/>
          <a:p>
            <a:r>
              <a:rPr lang="en-IN" sz="1700" dirty="0">
                <a:latin typeface="Times New Roman" pitchFamily="18" charset="0"/>
                <a:cs typeface="Times New Roman" pitchFamily="18" charset="0"/>
              </a:rPr>
              <a:t>The main objective of the project is to develop a secure web-based barter platform that enables users to exchange unused items without involving money</a:t>
            </a:r>
            <a:r>
              <a:rPr lang="en-IN" sz="1700" dirty="0" smtClean="0">
                <a:latin typeface="Times New Roman" pitchFamily="18" charset="0"/>
                <a:cs typeface="Times New Roman" pitchFamily="18" charset="0"/>
              </a:rPr>
              <a:t>.</a:t>
            </a:r>
          </a:p>
          <a:p>
            <a:endParaRPr lang="en-IN" sz="1700" dirty="0">
              <a:latin typeface="Times New Roman" pitchFamily="18" charset="0"/>
              <a:cs typeface="Times New Roman" pitchFamily="18" charset="0"/>
            </a:endParaRPr>
          </a:p>
          <a:p>
            <a:r>
              <a:rPr lang="en-IN" sz="1700" dirty="0">
                <a:latin typeface="Times New Roman" pitchFamily="18" charset="0"/>
                <a:cs typeface="Times New Roman" pitchFamily="18" charset="0"/>
              </a:rPr>
              <a:t>The specific objectives include</a:t>
            </a:r>
            <a:r>
              <a:rPr lang="en-IN" sz="1700" dirty="0" smtClean="0">
                <a:latin typeface="Times New Roman" pitchFamily="18" charset="0"/>
                <a:cs typeface="Times New Roman" pitchFamily="18" charset="0"/>
              </a:rPr>
              <a:t>:</a:t>
            </a:r>
          </a:p>
          <a:p>
            <a:endParaRPr lang="en-IN" sz="1700" dirty="0">
              <a:latin typeface="Times New Roman" pitchFamily="18" charset="0"/>
              <a:cs typeface="Times New Roman" pitchFamily="18" charset="0"/>
            </a:endParaRPr>
          </a:p>
          <a:p>
            <a:pPr marL="285750" lvl="0" indent="-285750">
              <a:buFont typeface="Arial" pitchFamily="34" charset="0"/>
              <a:buChar char="•"/>
            </a:pPr>
            <a:r>
              <a:rPr lang="en-IN" sz="1700" dirty="0">
                <a:latin typeface="Times New Roman" pitchFamily="18" charset="0"/>
                <a:cs typeface="Times New Roman" pitchFamily="18" charset="0"/>
              </a:rPr>
              <a:t>Promoting reuse and sustainable living </a:t>
            </a:r>
            <a:endParaRPr lang="en-IN" sz="1700" dirty="0" smtClean="0">
              <a:latin typeface="Times New Roman" pitchFamily="18" charset="0"/>
              <a:cs typeface="Times New Roman" pitchFamily="18" charset="0"/>
            </a:endParaRPr>
          </a:p>
          <a:p>
            <a:pPr marL="285750" lvl="0" indent="-285750">
              <a:buFont typeface="Arial" pitchFamily="34" charset="0"/>
              <a:buChar char="•"/>
            </a:pPr>
            <a:r>
              <a:rPr lang="en-IN" sz="1700" dirty="0" smtClean="0">
                <a:latin typeface="Times New Roman" pitchFamily="18" charset="0"/>
                <a:cs typeface="Times New Roman" pitchFamily="18" charset="0"/>
              </a:rPr>
              <a:t>Reducing </a:t>
            </a:r>
            <a:r>
              <a:rPr lang="en-IN" sz="1700" dirty="0">
                <a:latin typeface="Times New Roman" pitchFamily="18" charset="0"/>
                <a:cs typeface="Times New Roman" pitchFamily="18" charset="0"/>
              </a:rPr>
              <a:t>environmental waste </a:t>
            </a:r>
            <a:endParaRPr lang="en-IN" sz="1700" dirty="0" smtClean="0">
              <a:latin typeface="Times New Roman" pitchFamily="18" charset="0"/>
              <a:cs typeface="Times New Roman" pitchFamily="18" charset="0"/>
            </a:endParaRPr>
          </a:p>
          <a:p>
            <a:pPr marL="285750" lvl="0" indent="-285750">
              <a:buFont typeface="Arial" pitchFamily="34" charset="0"/>
              <a:buChar char="•"/>
            </a:pPr>
            <a:r>
              <a:rPr lang="en-IN" sz="1700" dirty="0" smtClean="0">
                <a:latin typeface="Times New Roman" pitchFamily="18" charset="0"/>
                <a:cs typeface="Times New Roman" pitchFamily="18" charset="0"/>
              </a:rPr>
              <a:t>Providing </a:t>
            </a:r>
            <a:r>
              <a:rPr lang="en-IN" sz="1700" dirty="0">
                <a:latin typeface="Times New Roman" pitchFamily="18" charset="0"/>
                <a:cs typeface="Times New Roman" pitchFamily="18" charset="0"/>
              </a:rPr>
              <a:t>secure user authentication </a:t>
            </a:r>
            <a:endParaRPr lang="en-IN" sz="1700" dirty="0" smtClean="0">
              <a:latin typeface="Times New Roman" pitchFamily="18" charset="0"/>
              <a:cs typeface="Times New Roman" pitchFamily="18" charset="0"/>
            </a:endParaRPr>
          </a:p>
          <a:p>
            <a:pPr marL="285750" lvl="0" indent="-285750">
              <a:buFont typeface="Arial" pitchFamily="34" charset="0"/>
              <a:buChar char="•"/>
            </a:pPr>
            <a:r>
              <a:rPr lang="en-IN" sz="1700" dirty="0" smtClean="0">
                <a:latin typeface="Times New Roman" pitchFamily="18" charset="0"/>
                <a:cs typeface="Times New Roman" pitchFamily="18" charset="0"/>
              </a:rPr>
              <a:t>Supporting </a:t>
            </a:r>
            <a:r>
              <a:rPr lang="en-IN" sz="1700" dirty="0">
                <a:latin typeface="Times New Roman" pitchFamily="18" charset="0"/>
                <a:cs typeface="Times New Roman" pitchFamily="18" charset="0"/>
              </a:rPr>
              <a:t>location-based item discovery </a:t>
            </a:r>
            <a:endParaRPr lang="en-IN" sz="1700" dirty="0" smtClean="0">
              <a:latin typeface="Times New Roman" pitchFamily="18" charset="0"/>
              <a:cs typeface="Times New Roman" pitchFamily="18" charset="0"/>
            </a:endParaRPr>
          </a:p>
          <a:p>
            <a:pPr marL="285750" lvl="0" indent="-285750">
              <a:buFont typeface="Arial" pitchFamily="34" charset="0"/>
              <a:buChar char="•"/>
            </a:pPr>
            <a:r>
              <a:rPr lang="en-IN" sz="1700" dirty="0" smtClean="0">
                <a:latin typeface="Times New Roman" pitchFamily="18" charset="0"/>
                <a:cs typeface="Times New Roman" pitchFamily="18" charset="0"/>
              </a:rPr>
              <a:t>Enabling </a:t>
            </a:r>
            <a:r>
              <a:rPr lang="en-IN" sz="1700" dirty="0">
                <a:latin typeface="Times New Roman" pitchFamily="18" charset="0"/>
                <a:cs typeface="Times New Roman" pitchFamily="18" charset="0"/>
              </a:rPr>
              <a:t>real-time communication between users </a:t>
            </a:r>
            <a:endParaRPr lang="en-IN" sz="1700" dirty="0" smtClean="0">
              <a:latin typeface="Times New Roman" pitchFamily="18" charset="0"/>
              <a:cs typeface="Times New Roman" pitchFamily="18" charset="0"/>
            </a:endParaRPr>
          </a:p>
          <a:p>
            <a:pPr marL="285750" lvl="0" indent="-285750">
              <a:buFont typeface="Arial" pitchFamily="34" charset="0"/>
              <a:buChar char="•"/>
            </a:pPr>
            <a:r>
              <a:rPr lang="en-IN" sz="1700" dirty="0" smtClean="0">
                <a:latin typeface="Times New Roman" pitchFamily="18" charset="0"/>
                <a:cs typeface="Times New Roman" pitchFamily="18" charset="0"/>
              </a:rPr>
              <a:t>Creating </a:t>
            </a:r>
            <a:r>
              <a:rPr lang="en-IN" sz="1700" dirty="0">
                <a:latin typeface="Times New Roman" pitchFamily="18" charset="0"/>
                <a:cs typeface="Times New Roman" pitchFamily="18" charset="0"/>
              </a:rPr>
              <a:t>a transparent and efficient exchange process </a:t>
            </a:r>
          </a:p>
        </p:txBody>
      </p:sp>
    </p:spTree>
    <p:extLst>
      <p:ext uri="{BB962C8B-B14F-4D97-AF65-F5344CB8AC3E}">
        <p14:creationId xmlns:p14="http://schemas.microsoft.com/office/powerpoint/2010/main" val="3789099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r>
              <a:rPr lang="en-IN" sz="3200" dirty="0">
                <a:latin typeface="Times New Roman" pitchFamily="18" charset="0"/>
                <a:cs typeface="Times New Roman" pitchFamily="18" charset="0"/>
              </a:rPr>
              <a:t>Key Features</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p:cNvSpPr txBox="1"/>
          <p:nvPr/>
        </p:nvSpPr>
        <p:spPr>
          <a:xfrm>
            <a:off x="164008" y="1372279"/>
            <a:ext cx="8838720" cy="4838571"/>
          </a:xfrm>
          <a:prstGeom prst="rect">
            <a:avLst/>
          </a:prstGeom>
          <a:noFill/>
          <a:ln w="9360">
            <a:noFill/>
          </a:ln>
        </p:spPr>
        <p:txBody>
          <a:bodyPr>
            <a:noAutofit/>
          </a:bodyPr>
          <a:lstStyle/>
          <a:p>
            <a:pPr marL="285750" indent="-285750">
              <a:spcBef>
                <a:spcPts val="400"/>
              </a:spcBef>
              <a:buFont typeface="Arial" pitchFamily="34" charset="0"/>
              <a:buChar char="•"/>
            </a:pPr>
            <a:r>
              <a:rPr lang="en-IN" sz="1700" b="1" dirty="0">
                <a:latin typeface="Times New Roman" pitchFamily="18" charset="0"/>
                <a:cs typeface="Times New Roman" pitchFamily="18" charset="0"/>
              </a:rPr>
              <a:t>Secure </a:t>
            </a:r>
            <a:r>
              <a:rPr lang="en-IN" sz="1700" b="1" dirty="0" smtClean="0">
                <a:latin typeface="Times New Roman" pitchFamily="18" charset="0"/>
                <a:cs typeface="Times New Roman" pitchFamily="18" charset="0"/>
              </a:rPr>
              <a:t>Authentication</a:t>
            </a:r>
            <a:r>
              <a:rPr lang="en-US" sz="1700" spc="-1" dirty="0" smtClean="0">
                <a:solidFill>
                  <a:srgbClr val="000000"/>
                </a:solidFill>
                <a:latin typeface="Times New Roman" pitchFamily="18" charset="0"/>
                <a:cs typeface="Times New Roman" pitchFamily="18" charset="0"/>
              </a:rPr>
              <a:t>: </a:t>
            </a:r>
            <a:r>
              <a:rPr lang="en-IN" sz="1700" dirty="0">
                <a:latin typeface="Times New Roman" pitchFamily="18" charset="0"/>
                <a:cs typeface="Times New Roman" pitchFamily="18" charset="0"/>
              </a:rPr>
              <a:t>The system provides secure registration and login functionality using JWT-based authentication.</a:t>
            </a:r>
          </a:p>
          <a:p>
            <a:pPr marL="285750" indent="-285750">
              <a:spcBef>
                <a:spcPts val="400"/>
              </a:spcBef>
              <a:buFont typeface="Arial" pitchFamily="34" charset="0"/>
              <a:buChar char="•"/>
            </a:pPr>
            <a:r>
              <a:rPr lang="en-IN" sz="1700" b="1" dirty="0">
                <a:latin typeface="Times New Roman" pitchFamily="18" charset="0"/>
                <a:cs typeface="Times New Roman" pitchFamily="18" charset="0"/>
              </a:rPr>
              <a:t>User Profile </a:t>
            </a:r>
            <a:r>
              <a:rPr lang="en-IN" sz="1700" b="1" dirty="0" smtClean="0">
                <a:latin typeface="Times New Roman" pitchFamily="18" charset="0"/>
                <a:cs typeface="Times New Roman" pitchFamily="18" charset="0"/>
              </a:rPr>
              <a:t>Management: </a:t>
            </a:r>
            <a:r>
              <a:rPr lang="en-IN" sz="1700" dirty="0">
                <a:latin typeface="Times New Roman" pitchFamily="18" charset="0"/>
                <a:cs typeface="Times New Roman" pitchFamily="18" charset="0"/>
              </a:rPr>
              <a:t>Users can create and manage personalized profiles containing exchange history and listed items.</a:t>
            </a:r>
          </a:p>
          <a:p>
            <a:pPr marL="285750" indent="-285750">
              <a:spcBef>
                <a:spcPts val="400"/>
              </a:spcBef>
              <a:buFont typeface="Arial" pitchFamily="34" charset="0"/>
              <a:buChar char="•"/>
            </a:pPr>
            <a:r>
              <a:rPr lang="en-IN" sz="1700" b="1" dirty="0">
                <a:latin typeface="Times New Roman" pitchFamily="18" charset="0"/>
                <a:cs typeface="Times New Roman" pitchFamily="18" charset="0"/>
              </a:rPr>
              <a:t>Item Listing and </a:t>
            </a:r>
            <a:r>
              <a:rPr lang="en-IN" sz="1700" b="1" dirty="0" smtClean="0">
                <a:latin typeface="Times New Roman" pitchFamily="18" charset="0"/>
                <a:cs typeface="Times New Roman" pitchFamily="18" charset="0"/>
              </a:rPr>
              <a:t>Browsing: </a:t>
            </a:r>
            <a:r>
              <a:rPr lang="en-IN" sz="1700" dirty="0">
                <a:latin typeface="Times New Roman" pitchFamily="18" charset="0"/>
                <a:cs typeface="Times New Roman" pitchFamily="18" charset="0"/>
              </a:rPr>
              <a:t>Users can upload item details, including descriptions, categories, and images.</a:t>
            </a:r>
          </a:p>
          <a:p>
            <a:pPr marL="285750" indent="-285750">
              <a:spcBef>
                <a:spcPts val="400"/>
              </a:spcBef>
              <a:buFont typeface="Arial" pitchFamily="34" charset="0"/>
              <a:buChar char="•"/>
            </a:pPr>
            <a:r>
              <a:rPr lang="en-IN" sz="1700" b="1" dirty="0">
                <a:latin typeface="Times New Roman" pitchFamily="18" charset="0"/>
                <a:cs typeface="Times New Roman" pitchFamily="18" charset="0"/>
              </a:rPr>
              <a:t>Location-Based </a:t>
            </a:r>
            <a:r>
              <a:rPr lang="en-IN" sz="1700" b="1" dirty="0" smtClean="0">
                <a:latin typeface="Times New Roman" pitchFamily="18" charset="0"/>
                <a:cs typeface="Times New Roman" pitchFamily="18" charset="0"/>
              </a:rPr>
              <a:t>Filtering: </a:t>
            </a:r>
            <a:r>
              <a:rPr lang="en-IN" sz="1700" dirty="0">
                <a:latin typeface="Times New Roman" pitchFamily="18" charset="0"/>
                <a:cs typeface="Times New Roman" pitchFamily="18" charset="0"/>
              </a:rPr>
              <a:t>The platform helps users find nearby exchanges through location-aware search functionality.</a:t>
            </a:r>
          </a:p>
          <a:p>
            <a:pPr marL="285750" indent="-285750">
              <a:spcBef>
                <a:spcPts val="400"/>
              </a:spcBef>
              <a:buFont typeface="Arial" pitchFamily="34" charset="0"/>
              <a:buChar char="•"/>
            </a:pPr>
            <a:r>
              <a:rPr lang="en-IN" sz="1700" b="1" dirty="0">
                <a:latin typeface="Times New Roman" pitchFamily="18" charset="0"/>
                <a:cs typeface="Times New Roman" pitchFamily="18" charset="0"/>
              </a:rPr>
              <a:t>Real-Time </a:t>
            </a:r>
            <a:r>
              <a:rPr lang="en-IN" sz="1700" b="1" dirty="0" smtClean="0">
                <a:latin typeface="Times New Roman" pitchFamily="18" charset="0"/>
                <a:cs typeface="Times New Roman" pitchFamily="18" charset="0"/>
              </a:rPr>
              <a:t>Communication: </a:t>
            </a:r>
            <a:r>
              <a:rPr lang="en-IN" sz="1700" dirty="0">
                <a:latin typeface="Times New Roman" pitchFamily="18" charset="0"/>
                <a:cs typeface="Times New Roman" pitchFamily="18" charset="0"/>
              </a:rPr>
              <a:t>Integrated chat functionality enables direct negotiation between users.</a:t>
            </a:r>
          </a:p>
          <a:p>
            <a:pPr marL="285750" indent="-285750">
              <a:spcBef>
                <a:spcPts val="400"/>
              </a:spcBef>
              <a:buFont typeface="Arial" pitchFamily="34" charset="0"/>
              <a:buChar char="•"/>
            </a:pPr>
            <a:r>
              <a:rPr lang="en-IN" sz="1700" b="1" dirty="0">
                <a:latin typeface="Times New Roman" pitchFamily="18" charset="0"/>
                <a:cs typeface="Times New Roman" pitchFamily="18" charset="0"/>
              </a:rPr>
              <a:t>Money-Free </a:t>
            </a:r>
            <a:r>
              <a:rPr lang="en-IN" sz="1700" b="1" dirty="0" smtClean="0">
                <a:latin typeface="Times New Roman" pitchFamily="18" charset="0"/>
                <a:cs typeface="Times New Roman" pitchFamily="18" charset="0"/>
              </a:rPr>
              <a:t>Exchange: </a:t>
            </a:r>
            <a:r>
              <a:rPr lang="en-IN" sz="1700" dirty="0">
                <a:latin typeface="Times New Roman" pitchFamily="18" charset="0"/>
                <a:cs typeface="Times New Roman" pitchFamily="18" charset="0"/>
              </a:rPr>
              <a:t>The system operates entirely on direct barter principles without financial transactions</a:t>
            </a:r>
            <a:r>
              <a:rPr lang="en-IN" sz="1700" dirty="0" smtClean="0">
                <a:latin typeface="Times New Roman" pitchFamily="18" charset="0"/>
                <a:cs typeface="Times New Roman" pitchFamily="18" charset="0"/>
              </a:rPr>
              <a:t>.</a:t>
            </a:r>
            <a:endParaRPr lang="en-IN" sz="1700" dirty="0">
              <a:latin typeface="Times New Roman" pitchFamily="18" charset="0"/>
              <a:cs typeface="Times New Roman" pitchFamily="18" charset="0"/>
            </a:endParaRPr>
          </a:p>
        </p:txBody>
      </p:sp>
    </p:spTree>
    <p:extLst>
      <p:ext uri="{BB962C8B-B14F-4D97-AF65-F5344CB8AC3E}">
        <p14:creationId xmlns:p14="http://schemas.microsoft.com/office/powerpoint/2010/main" val="349858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r>
              <a:rPr lang="en-IN" sz="3200" dirty="0">
                <a:latin typeface="Times New Roman" pitchFamily="18" charset="0"/>
                <a:cs typeface="Times New Roman" pitchFamily="18" charset="0"/>
              </a:rPr>
              <a:t>Scope of the Project</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p:cNvSpPr txBox="1"/>
          <p:nvPr/>
        </p:nvSpPr>
        <p:spPr>
          <a:xfrm>
            <a:off x="164008" y="1381332"/>
            <a:ext cx="8838720" cy="4838571"/>
          </a:xfrm>
          <a:prstGeom prst="rect">
            <a:avLst/>
          </a:prstGeom>
          <a:noFill/>
          <a:ln w="9360">
            <a:noFill/>
          </a:ln>
        </p:spPr>
        <p:txBody>
          <a:bodyPr>
            <a:noAutofit/>
          </a:bodyPr>
          <a:lstStyle/>
          <a:p>
            <a:r>
              <a:rPr lang="en-IN" sz="1700" dirty="0">
                <a:latin typeface="Times New Roman" pitchFamily="18" charset="0"/>
                <a:cs typeface="Times New Roman" pitchFamily="18" charset="0"/>
              </a:rPr>
              <a:t>The scope of the project includes</a:t>
            </a:r>
            <a:r>
              <a:rPr lang="en-IN" sz="1700" dirty="0" smtClean="0">
                <a:latin typeface="Times New Roman" pitchFamily="18" charset="0"/>
                <a:cs typeface="Times New Roman" pitchFamily="18" charset="0"/>
              </a:rPr>
              <a:t>:</a:t>
            </a:r>
          </a:p>
          <a:p>
            <a:endParaRPr lang="en-IN" sz="1700" dirty="0">
              <a:latin typeface="Times New Roman" pitchFamily="18" charset="0"/>
              <a:cs typeface="Times New Roman" pitchFamily="18" charset="0"/>
            </a:endParaRPr>
          </a:p>
          <a:p>
            <a:pPr marL="285750" lvl="0" indent="-285750">
              <a:buFont typeface="Arial" pitchFamily="34" charset="0"/>
              <a:buChar char="•"/>
            </a:pPr>
            <a:r>
              <a:rPr lang="en-IN" sz="1700" dirty="0">
                <a:latin typeface="Times New Roman" pitchFamily="18" charset="0"/>
                <a:cs typeface="Times New Roman" pitchFamily="18" charset="0"/>
              </a:rPr>
              <a:t>Development of a responsive web-based barter platform </a:t>
            </a:r>
            <a:endParaRPr lang="en-IN" sz="1700" dirty="0" smtClean="0">
              <a:latin typeface="Times New Roman" pitchFamily="18" charset="0"/>
              <a:cs typeface="Times New Roman" pitchFamily="18" charset="0"/>
            </a:endParaRPr>
          </a:p>
          <a:p>
            <a:pPr marL="285750" lvl="0" indent="-285750">
              <a:buFont typeface="Arial" pitchFamily="34" charset="0"/>
              <a:buChar char="•"/>
            </a:pPr>
            <a:r>
              <a:rPr lang="en-IN" sz="1700" dirty="0" smtClean="0">
                <a:latin typeface="Times New Roman" pitchFamily="18" charset="0"/>
                <a:cs typeface="Times New Roman" pitchFamily="18" charset="0"/>
              </a:rPr>
              <a:t>Secure </a:t>
            </a:r>
            <a:r>
              <a:rPr lang="en-IN" sz="1700" dirty="0">
                <a:latin typeface="Times New Roman" pitchFamily="18" charset="0"/>
                <a:cs typeface="Times New Roman" pitchFamily="18" charset="0"/>
              </a:rPr>
              <a:t>authentication and user management </a:t>
            </a:r>
            <a:endParaRPr lang="en-IN" sz="1700" dirty="0" smtClean="0">
              <a:latin typeface="Times New Roman" pitchFamily="18" charset="0"/>
              <a:cs typeface="Times New Roman" pitchFamily="18" charset="0"/>
            </a:endParaRPr>
          </a:p>
          <a:p>
            <a:pPr marL="285750" lvl="0" indent="-285750">
              <a:buFont typeface="Arial" pitchFamily="34" charset="0"/>
              <a:buChar char="•"/>
            </a:pPr>
            <a:r>
              <a:rPr lang="en-IN" sz="1700" dirty="0" smtClean="0">
                <a:latin typeface="Times New Roman" pitchFamily="18" charset="0"/>
                <a:cs typeface="Times New Roman" pitchFamily="18" charset="0"/>
              </a:rPr>
              <a:t>Real-time </a:t>
            </a:r>
            <a:r>
              <a:rPr lang="en-IN" sz="1700" dirty="0">
                <a:latin typeface="Times New Roman" pitchFamily="18" charset="0"/>
                <a:cs typeface="Times New Roman" pitchFamily="18" charset="0"/>
              </a:rPr>
              <a:t>communication support </a:t>
            </a:r>
            <a:endParaRPr lang="en-IN" sz="1700" dirty="0" smtClean="0">
              <a:latin typeface="Times New Roman" pitchFamily="18" charset="0"/>
              <a:cs typeface="Times New Roman" pitchFamily="18" charset="0"/>
            </a:endParaRPr>
          </a:p>
          <a:p>
            <a:pPr marL="285750" lvl="0" indent="-285750">
              <a:buFont typeface="Arial" pitchFamily="34" charset="0"/>
              <a:buChar char="•"/>
            </a:pPr>
            <a:r>
              <a:rPr lang="en-IN" sz="1700" dirty="0" smtClean="0">
                <a:latin typeface="Times New Roman" pitchFamily="18" charset="0"/>
                <a:cs typeface="Times New Roman" pitchFamily="18" charset="0"/>
              </a:rPr>
              <a:t>Item </a:t>
            </a:r>
            <a:r>
              <a:rPr lang="en-IN" sz="1700" dirty="0">
                <a:latin typeface="Times New Roman" pitchFamily="18" charset="0"/>
                <a:cs typeface="Times New Roman" pitchFamily="18" charset="0"/>
              </a:rPr>
              <a:t>listing and exchange management </a:t>
            </a:r>
            <a:endParaRPr lang="en-IN" sz="1700" dirty="0" smtClean="0">
              <a:latin typeface="Times New Roman" pitchFamily="18" charset="0"/>
              <a:cs typeface="Times New Roman" pitchFamily="18" charset="0"/>
            </a:endParaRPr>
          </a:p>
          <a:p>
            <a:pPr marL="285750" lvl="0" indent="-285750">
              <a:buFont typeface="Arial" pitchFamily="34" charset="0"/>
              <a:buChar char="•"/>
            </a:pPr>
            <a:r>
              <a:rPr lang="en-IN" sz="1700" dirty="0" smtClean="0">
                <a:latin typeface="Times New Roman" pitchFamily="18" charset="0"/>
                <a:cs typeface="Times New Roman" pitchFamily="18" charset="0"/>
              </a:rPr>
              <a:t>Location-based </a:t>
            </a:r>
            <a:r>
              <a:rPr lang="en-IN" sz="1700" dirty="0">
                <a:latin typeface="Times New Roman" pitchFamily="18" charset="0"/>
                <a:cs typeface="Times New Roman" pitchFamily="18" charset="0"/>
              </a:rPr>
              <a:t>filtering system </a:t>
            </a:r>
            <a:endParaRPr lang="en-IN" sz="1700" dirty="0" smtClean="0">
              <a:latin typeface="Times New Roman" pitchFamily="18" charset="0"/>
              <a:cs typeface="Times New Roman" pitchFamily="18" charset="0"/>
            </a:endParaRPr>
          </a:p>
          <a:p>
            <a:pPr lvl="0"/>
            <a:endParaRPr lang="en-IN" sz="1700" dirty="0">
              <a:latin typeface="Times New Roman" pitchFamily="18" charset="0"/>
              <a:cs typeface="Times New Roman" pitchFamily="18" charset="0"/>
            </a:endParaRPr>
          </a:p>
          <a:p>
            <a:r>
              <a:rPr lang="en-IN" sz="1700" dirty="0">
                <a:latin typeface="Times New Roman" pitchFamily="18" charset="0"/>
                <a:cs typeface="Times New Roman" pitchFamily="18" charset="0"/>
              </a:rPr>
              <a:t>The project focuses on promoting sustainability and community-driven reuse systems.</a:t>
            </a:r>
          </a:p>
          <a:p>
            <a:pPr>
              <a:lnSpc>
                <a:spcPct val="100000"/>
              </a:lnSpc>
              <a:spcBef>
                <a:spcPts val="400"/>
              </a:spcBef>
            </a:pPr>
            <a:endParaRPr lang="en-US" sz="1700" b="0" strike="noStrike" spc="-1"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4192534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r>
              <a:rPr lang="en-IN" sz="3200" dirty="0">
                <a:latin typeface="Times New Roman" pitchFamily="18" charset="0"/>
                <a:cs typeface="Times New Roman" pitchFamily="18" charset="0"/>
              </a:rPr>
              <a:t>Technologies Used</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5" name="TextShape 2"/>
          <p:cNvSpPr txBox="1"/>
          <p:nvPr/>
        </p:nvSpPr>
        <p:spPr>
          <a:xfrm>
            <a:off x="164008" y="1100689"/>
            <a:ext cx="8838720" cy="4838571"/>
          </a:xfrm>
          <a:prstGeom prst="rect">
            <a:avLst/>
          </a:prstGeom>
          <a:noFill/>
          <a:ln w="9360">
            <a:noFill/>
          </a:ln>
        </p:spPr>
        <p:txBody>
          <a:bodyPr>
            <a:noAutofit/>
          </a:bodyPr>
          <a:lstStyle/>
          <a:p>
            <a:pPr>
              <a:lnSpc>
                <a:spcPct val="100000"/>
              </a:lnSpc>
              <a:spcBef>
                <a:spcPts val="400"/>
              </a:spcBef>
            </a:pPr>
            <a:endParaRPr lang="en-US" sz="1700" b="0" strike="noStrike" spc="-1" dirty="0">
              <a:solidFill>
                <a:srgbClr val="000000"/>
              </a:solidFill>
              <a:latin typeface="Times New Roman" pitchFamily="18" charset="0"/>
              <a:cs typeface="Times New Roman"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69200877"/>
              </p:ext>
            </p:extLst>
          </p:nvPr>
        </p:nvGraphicFramePr>
        <p:xfrm>
          <a:off x="457200" y="1724415"/>
          <a:ext cx="8229600" cy="3191630"/>
        </p:xfrm>
        <a:graphic>
          <a:graphicData uri="http://schemas.openxmlformats.org/drawingml/2006/table">
            <a:tbl>
              <a:tblPr firstRow="1" firstCol="1" bandRow="1">
                <a:tableStyleId>{5C22544A-7EE6-4342-B048-85BDC9FD1C3A}</a:tableStyleId>
              </a:tblPr>
              <a:tblGrid>
                <a:gridCol w="4114800"/>
                <a:gridCol w="4114800"/>
              </a:tblGrid>
              <a:tr h="319163">
                <a:tc>
                  <a:txBody>
                    <a:bodyPr/>
                    <a:lstStyle/>
                    <a:p>
                      <a:pPr algn="ctr">
                        <a:lnSpc>
                          <a:spcPct val="115000"/>
                        </a:lnSpc>
                        <a:spcAft>
                          <a:spcPts val="0"/>
                        </a:spcAft>
                      </a:pPr>
                      <a:r>
                        <a:rPr lang="en-IN" sz="1100" dirty="0">
                          <a:effectLst/>
                        </a:rPr>
                        <a:t>Technology</a:t>
                      </a:r>
                      <a:endParaRPr lang="en-IN" sz="1100" dirty="0">
                        <a:effectLst/>
                        <a:latin typeface="Arial"/>
                        <a:ea typeface="Arial"/>
                      </a:endParaRPr>
                    </a:p>
                  </a:txBody>
                  <a:tcPr marL="9525" marR="9525" marT="9525" marB="9525" anchor="ctr"/>
                </a:tc>
                <a:tc>
                  <a:txBody>
                    <a:bodyPr/>
                    <a:lstStyle/>
                    <a:p>
                      <a:pPr algn="ctr">
                        <a:lnSpc>
                          <a:spcPct val="115000"/>
                        </a:lnSpc>
                        <a:spcAft>
                          <a:spcPts val="0"/>
                        </a:spcAft>
                      </a:pPr>
                      <a:r>
                        <a:rPr lang="en-IN" sz="1100">
                          <a:effectLst/>
                        </a:rPr>
                        <a:t>Purpose</a:t>
                      </a:r>
                      <a:endParaRPr lang="en-IN" sz="1100">
                        <a:effectLst/>
                        <a:latin typeface="Arial"/>
                        <a:ea typeface="Arial"/>
                      </a:endParaRPr>
                    </a:p>
                  </a:txBody>
                  <a:tcPr marL="9525" marR="9525" marT="9525" marB="9525" anchor="ctr"/>
                </a:tc>
              </a:tr>
              <a:tr h="319163">
                <a:tc>
                  <a:txBody>
                    <a:bodyPr/>
                    <a:lstStyle/>
                    <a:p>
                      <a:pPr>
                        <a:lnSpc>
                          <a:spcPct val="115000"/>
                        </a:lnSpc>
                        <a:spcAft>
                          <a:spcPts val="0"/>
                        </a:spcAft>
                      </a:pPr>
                      <a:r>
                        <a:rPr lang="en-IN" sz="1100">
                          <a:effectLst/>
                        </a:rPr>
                        <a:t>HTML</a:t>
                      </a:r>
                      <a:endParaRPr lang="en-IN" sz="1100">
                        <a:effectLst/>
                        <a:latin typeface="Arial"/>
                        <a:ea typeface="Arial"/>
                      </a:endParaRPr>
                    </a:p>
                  </a:txBody>
                  <a:tcPr marL="9525" marR="9525" marT="9525" marB="9525" anchor="ctr"/>
                </a:tc>
                <a:tc>
                  <a:txBody>
                    <a:bodyPr/>
                    <a:lstStyle/>
                    <a:p>
                      <a:pPr>
                        <a:lnSpc>
                          <a:spcPct val="115000"/>
                        </a:lnSpc>
                        <a:spcAft>
                          <a:spcPts val="0"/>
                        </a:spcAft>
                      </a:pPr>
                      <a:r>
                        <a:rPr lang="en-IN" sz="1100">
                          <a:effectLst/>
                        </a:rPr>
                        <a:t>Structure of web pages</a:t>
                      </a:r>
                      <a:endParaRPr lang="en-IN" sz="1100">
                        <a:effectLst/>
                        <a:latin typeface="Arial"/>
                        <a:ea typeface="Arial"/>
                      </a:endParaRPr>
                    </a:p>
                  </a:txBody>
                  <a:tcPr marL="9525" marR="9525" marT="9525" marB="9525" anchor="ctr"/>
                </a:tc>
              </a:tr>
              <a:tr h="319163">
                <a:tc>
                  <a:txBody>
                    <a:bodyPr/>
                    <a:lstStyle/>
                    <a:p>
                      <a:pPr>
                        <a:lnSpc>
                          <a:spcPct val="115000"/>
                        </a:lnSpc>
                        <a:spcAft>
                          <a:spcPts val="0"/>
                        </a:spcAft>
                      </a:pPr>
                      <a:r>
                        <a:rPr lang="en-IN" sz="1100">
                          <a:effectLst/>
                        </a:rPr>
                        <a:t>CSS</a:t>
                      </a:r>
                      <a:endParaRPr lang="en-IN" sz="1100">
                        <a:effectLst/>
                        <a:latin typeface="Arial"/>
                        <a:ea typeface="Arial"/>
                      </a:endParaRPr>
                    </a:p>
                  </a:txBody>
                  <a:tcPr marL="9525" marR="9525" marT="9525" marB="9525" anchor="ctr"/>
                </a:tc>
                <a:tc>
                  <a:txBody>
                    <a:bodyPr/>
                    <a:lstStyle/>
                    <a:p>
                      <a:pPr>
                        <a:lnSpc>
                          <a:spcPct val="115000"/>
                        </a:lnSpc>
                        <a:spcAft>
                          <a:spcPts val="0"/>
                        </a:spcAft>
                      </a:pPr>
                      <a:r>
                        <a:rPr lang="en-IN" sz="1100">
                          <a:effectLst/>
                        </a:rPr>
                        <a:t>Styling and responsiveness</a:t>
                      </a:r>
                      <a:endParaRPr lang="en-IN" sz="1100">
                        <a:effectLst/>
                        <a:latin typeface="Arial"/>
                        <a:ea typeface="Arial"/>
                      </a:endParaRPr>
                    </a:p>
                  </a:txBody>
                  <a:tcPr marL="9525" marR="9525" marT="9525" marB="9525" anchor="ctr"/>
                </a:tc>
              </a:tr>
              <a:tr h="319163">
                <a:tc>
                  <a:txBody>
                    <a:bodyPr/>
                    <a:lstStyle/>
                    <a:p>
                      <a:pPr>
                        <a:lnSpc>
                          <a:spcPct val="115000"/>
                        </a:lnSpc>
                        <a:spcAft>
                          <a:spcPts val="0"/>
                        </a:spcAft>
                      </a:pPr>
                      <a:r>
                        <a:rPr lang="en-IN" sz="1100">
                          <a:effectLst/>
                        </a:rPr>
                        <a:t>JavaScript</a:t>
                      </a:r>
                      <a:endParaRPr lang="en-IN" sz="1100">
                        <a:effectLst/>
                        <a:latin typeface="Arial"/>
                        <a:ea typeface="Arial"/>
                      </a:endParaRPr>
                    </a:p>
                  </a:txBody>
                  <a:tcPr marL="9525" marR="9525" marT="9525" marB="9525" anchor="ctr"/>
                </a:tc>
                <a:tc>
                  <a:txBody>
                    <a:bodyPr/>
                    <a:lstStyle/>
                    <a:p>
                      <a:pPr>
                        <a:lnSpc>
                          <a:spcPct val="115000"/>
                        </a:lnSpc>
                        <a:spcAft>
                          <a:spcPts val="0"/>
                        </a:spcAft>
                      </a:pPr>
                      <a:r>
                        <a:rPr lang="en-IN" sz="1100">
                          <a:effectLst/>
                        </a:rPr>
                        <a:t>Interactive functionality</a:t>
                      </a:r>
                      <a:endParaRPr lang="en-IN" sz="1100">
                        <a:effectLst/>
                        <a:latin typeface="Arial"/>
                        <a:ea typeface="Arial"/>
                      </a:endParaRPr>
                    </a:p>
                  </a:txBody>
                  <a:tcPr marL="9525" marR="9525" marT="9525" marB="9525" anchor="ctr"/>
                </a:tc>
              </a:tr>
              <a:tr h="319163">
                <a:tc>
                  <a:txBody>
                    <a:bodyPr/>
                    <a:lstStyle/>
                    <a:p>
                      <a:pPr>
                        <a:lnSpc>
                          <a:spcPct val="115000"/>
                        </a:lnSpc>
                        <a:spcAft>
                          <a:spcPts val="0"/>
                        </a:spcAft>
                      </a:pPr>
                      <a:r>
                        <a:rPr lang="en-IN" sz="1100">
                          <a:effectLst/>
                        </a:rPr>
                        <a:t>React.js</a:t>
                      </a:r>
                      <a:endParaRPr lang="en-IN" sz="1100">
                        <a:effectLst/>
                        <a:latin typeface="Arial"/>
                        <a:ea typeface="Arial"/>
                      </a:endParaRPr>
                    </a:p>
                  </a:txBody>
                  <a:tcPr marL="9525" marR="9525" marT="9525" marB="9525" anchor="ctr"/>
                </a:tc>
                <a:tc>
                  <a:txBody>
                    <a:bodyPr/>
                    <a:lstStyle/>
                    <a:p>
                      <a:pPr>
                        <a:lnSpc>
                          <a:spcPct val="115000"/>
                        </a:lnSpc>
                        <a:spcAft>
                          <a:spcPts val="0"/>
                        </a:spcAft>
                      </a:pPr>
                      <a:r>
                        <a:rPr lang="en-IN" sz="1100">
                          <a:effectLst/>
                        </a:rPr>
                        <a:t>Frontend development</a:t>
                      </a:r>
                      <a:endParaRPr lang="en-IN" sz="1100">
                        <a:effectLst/>
                        <a:latin typeface="Arial"/>
                        <a:ea typeface="Arial"/>
                      </a:endParaRPr>
                    </a:p>
                  </a:txBody>
                  <a:tcPr marL="9525" marR="9525" marT="9525" marB="9525" anchor="ctr"/>
                </a:tc>
              </a:tr>
              <a:tr h="319163">
                <a:tc>
                  <a:txBody>
                    <a:bodyPr/>
                    <a:lstStyle/>
                    <a:p>
                      <a:pPr>
                        <a:lnSpc>
                          <a:spcPct val="115000"/>
                        </a:lnSpc>
                        <a:spcAft>
                          <a:spcPts val="0"/>
                        </a:spcAft>
                      </a:pPr>
                      <a:r>
                        <a:rPr lang="en-IN" sz="1100">
                          <a:effectLst/>
                        </a:rPr>
                        <a:t>Node.js</a:t>
                      </a:r>
                      <a:endParaRPr lang="en-IN" sz="1100">
                        <a:effectLst/>
                        <a:latin typeface="Arial"/>
                        <a:ea typeface="Arial"/>
                      </a:endParaRPr>
                    </a:p>
                  </a:txBody>
                  <a:tcPr marL="9525" marR="9525" marT="9525" marB="9525" anchor="ctr"/>
                </a:tc>
                <a:tc>
                  <a:txBody>
                    <a:bodyPr/>
                    <a:lstStyle/>
                    <a:p>
                      <a:pPr>
                        <a:lnSpc>
                          <a:spcPct val="115000"/>
                        </a:lnSpc>
                        <a:spcAft>
                          <a:spcPts val="0"/>
                        </a:spcAft>
                      </a:pPr>
                      <a:r>
                        <a:rPr lang="en-IN" sz="1100">
                          <a:effectLst/>
                        </a:rPr>
                        <a:t>Backend runtime environment</a:t>
                      </a:r>
                      <a:endParaRPr lang="en-IN" sz="1100">
                        <a:effectLst/>
                        <a:latin typeface="Arial"/>
                        <a:ea typeface="Arial"/>
                      </a:endParaRPr>
                    </a:p>
                  </a:txBody>
                  <a:tcPr marL="9525" marR="9525" marT="9525" marB="9525" anchor="ctr"/>
                </a:tc>
              </a:tr>
              <a:tr h="319163">
                <a:tc>
                  <a:txBody>
                    <a:bodyPr/>
                    <a:lstStyle/>
                    <a:p>
                      <a:pPr>
                        <a:lnSpc>
                          <a:spcPct val="115000"/>
                        </a:lnSpc>
                        <a:spcAft>
                          <a:spcPts val="0"/>
                        </a:spcAft>
                      </a:pPr>
                      <a:r>
                        <a:rPr lang="en-IN" sz="1100">
                          <a:effectLst/>
                        </a:rPr>
                        <a:t>Express.js</a:t>
                      </a:r>
                      <a:endParaRPr lang="en-IN" sz="1100">
                        <a:effectLst/>
                        <a:latin typeface="Arial"/>
                        <a:ea typeface="Arial"/>
                      </a:endParaRPr>
                    </a:p>
                  </a:txBody>
                  <a:tcPr marL="9525" marR="9525" marT="9525" marB="9525" anchor="ctr"/>
                </a:tc>
                <a:tc>
                  <a:txBody>
                    <a:bodyPr/>
                    <a:lstStyle/>
                    <a:p>
                      <a:pPr>
                        <a:lnSpc>
                          <a:spcPct val="115000"/>
                        </a:lnSpc>
                        <a:spcAft>
                          <a:spcPts val="0"/>
                        </a:spcAft>
                      </a:pPr>
                      <a:r>
                        <a:rPr lang="en-IN" sz="1100">
                          <a:effectLst/>
                        </a:rPr>
                        <a:t>API development</a:t>
                      </a:r>
                      <a:endParaRPr lang="en-IN" sz="1100">
                        <a:effectLst/>
                        <a:latin typeface="Arial"/>
                        <a:ea typeface="Arial"/>
                      </a:endParaRPr>
                    </a:p>
                  </a:txBody>
                  <a:tcPr marL="9525" marR="9525" marT="9525" marB="9525" anchor="ctr"/>
                </a:tc>
              </a:tr>
              <a:tr h="319163">
                <a:tc>
                  <a:txBody>
                    <a:bodyPr/>
                    <a:lstStyle/>
                    <a:p>
                      <a:pPr>
                        <a:lnSpc>
                          <a:spcPct val="115000"/>
                        </a:lnSpc>
                        <a:spcAft>
                          <a:spcPts val="0"/>
                        </a:spcAft>
                      </a:pPr>
                      <a:r>
                        <a:rPr lang="en-IN" sz="1100">
                          <a:effectLst/>
                        </a:rPr>
                        <a:t>MongoDB</a:t>
                      </a:r>
                      <a:endParaRPr lang="en-IN" sz="1100">
                        <a:effectLst/>
                        <a:latin typeface="Arial"/>
                        <a:ea typeface="Arial"/>
                      </a:endParaRPr>
                    </a:p>
                  </a:txBody>
                  <a:tcPr marL="9525" marR="9525" marT="9525" marB="9525" anchor="ctr"/>
                </a:tc>
                <a:tc>
                  <a:txBody>
                    <a:bodyPr/>
                    <a:lstStyle/>
                    <a:p>
                      <a:pPr>
                        <a:lnSpc>
                          <a:spcPct val="115000"/>
                        </a:lnSpc>
                        <a:spcAft>
                          <a:spcPts val="0"/>
                        </a:spcAft>
                      </a:pPr>
                      <a:r>
                        <a:rPr lang="en-IN" sz="1100">
                          <a:effectLst/>
                        </a:rPr>
                        <a:t>Database management</a:t>
                      </a:r>
                      <a:endParaRPr lang="en-IN" sz="1100">
                        <a:effectLst/>
                        <a:latin typeface="Arial"/>
                        <a:ea typeface="Arial"/>
                      </a:endParaRPr>
                    </a:p>
                  </a:txBody>
                  <a:tcPr marL="9525" marR="9525" marT="9525" marB="9525" anchor="ctr"/>
                </a:tc>
              </a:tr>
              <a:tr h="319163">
                <a:tc>
                  <a:txBody>
                    <a:bodyPr/>
                    <a:lstStyle/>
                    <a:p>
                      <a:pPr>
                        <a:lnSpc>
                          <a:spcPct val="115000"/>
                        </a:lnSpc>
                        <a:spcAft>
                          <a:spcPts val="0"/>
                        </a:spcAft>
                      </a:pPr>
                      <a:r>
                        <a:rPr lang="en-IN" sz="1100">
                          <a:effectLst/>
                        </a:rPr>
                        <a:t>JWT</a:t>
                      </a:r>
                      <a:endParaRPr lang="en-IN" sz="1100">
                        <a:effectLst/>
                        <a:latin typeface="Arial"/>
                        <a:ea typeface="Arial"/>
                      </a:endParaRPr>
                    </a:p>
                  </a:txBody>
                  <a:tcPr marL="9525" marR="9525" marT="9525" marB="9525" anchor="ctr"/>
                </a:tc>
                <a:tc>
                  <a:txBody>
                    <a:bodyPr/>
                    <a:lstStyle/>
                    <a:p>
                      <a:pPr>
                        <a:lnSpc>
                          <a:spcPct val="115000"/>
                        </a:lnSpc>
                        <a:spcAft>
                          <a:spcPts val="0"/>
                        </a:spcAft>
                      </a:pPr>
                      <a:r>
                        <a:rPr lang="en-IN" sz="1100">
                          <a:effectLst/>
                        </a:rPr>
                        <a:t>Authentication and authorization</a:t>
                      </a:r>
                      <a:endParaRPr lang="en-IN" sz="1100">
                        <a:effectLst/>
                        <a:latin typeface="Arial"/>
                        <a:ea typeface="Arial"/>
                      </a:endParaRPr>
                    </a:p>
                  </a:txBody>
                  <a:tcPr marL="9525" marR="9525" marT="9525" marB="9525" anchor="ctr"/>
                </a:tc>
              </a:tr>
              <a:tr h="319163">
                <a:tc>
                  <a:txBody>
                    <a:bodyPr/>
                    <a:lstStyle/>
                    <a:p>
                      <a:pPr>
                        <a:lnSpc>
                          <a:spcPct val="115000"/>
                        </a:lnSpc>
                        <a:spcAft>
                          <a:spcPts val="0"/>
                        </a:spcAft>
                      </a:pPr>
                      <a:r>
                        <a:rPr lang="en-IN" sz="1100" dirty="0" err="1">
                          <a:effectLst/>
                        </a:rPr>
                        <a:t>WebSockets</a:t>
                      </a:r>
                      <a:endParaRPr lang="en-IN" sz="1100" dirty="0">
                        <a:effectLst/>
                        <a:latin typeface="Arial"/>
                        <a:ea typeface="Arial"/>
                      </a:endParaRPr>
                    </a:p>
                  </a:txBody>
                  <a:tcPr marL="9525" marR="9525" marT="9525" marB="9525" anchor="ctr"/>
                </a:tc>
                <a:tc>
                  <a:txBody>
                    <a:bodyPr/>
                    <a:lstStyle/>
                    <a:p>
                      <a:pPr>
                        <a:lnSpc>
                          <a:spcPct val="115000"/>
                        </a:lnSpc>
                        <a:spcAft>
                          <a:spcPts val="0"/>
                        </a:spcAft>
                      </a:pPr>
                      <a:r>
                        <a:rPr lang="en-IN" sz="1100" dirty="0">
                          <a:effectLst/>
                        </a:rPr>
                        <a:t>Real-time communication</a:t>
                      </a:r>
                      <a:endParaRPr lang="en-IN" sz="1100" dirty="0">
                        <a:effectLst/>
                        <a:latin typeface="Arial"/>
                        <a:ea typeface="Arial"/>
                      </a:endParaRPr>
                    </a:p>
                  </a:txBody>
                  <a:tcPr marL="9525" marR="9525" marT="9525" marB="9525" anchor="ctr"/>
                </a:tc>
              </a:tr>
            </a:tbl>
          </a:graphicData>
        </a:graphic>
      </p:graphicFrame>
    </p:spTree>
    <p:extLst>
      <p:ext uri="{BB962C8B-B14F-4D97-AF65-F5344CB8AC3E}">
        <p14:creationId xmlns:p14="http://schemas.microsoft.com/office/powerpoint/2010/main" val="3775512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r>
              <a:rPr lang="en-IN" sz="3200" dirty="0">
                <a:latin typeface="Times New Roman" pitchFamily="18" charset="0"/>
                <a:cs typeface="Times New Roman" pitchFamily="18" charset="0"/>
              </a:rPr>
              <a:t>Outcomes of the Project</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5" name="TextShape 2"/>
          <p:cNvSpPr txBox="1"/>
          <p:nvPr/>
        </p:nvSpPr>
        <p:spPr>
          <a:xfrm>
            <a:off x="164008" y="1444703"/>
            <a:ext cx="8838720" cy="4838571"/>
          </a:xfrm>
          <a:prstGeom prst="rect">
            <a:avLst/>
          </a:prstGeom>
          <a:noFill/>
          <a:ln w="9360">
            <a:noFill/>
          </a:ln>
        </p:spPr>
        <p:txBody>
          <a:bodyPr>
            <a:noAutofit/>
          </a:bodyPr>
          <a:lstStyle/>
          <a:p>
            <a:r>
              <a:rPr lang="en-IN" sz="1700" dirty="0">
                <a:latin typeface="Times New Roman" pitchFamily="18" charset="0"/>
                <a:cs typeface="Times New Roman" pitchFamily="18" charset="0"/>
              </a:rPr>
              <a:t>The developed platform achieved</a:t>
            </a:r>
            <a:r>
              <a:rPr lang="en-IN" sz="1700" dirty="0" smtClean="0">
                <a:latin typeface="Times New Roman" pitchFamily="18" charset="0"/>
                <a:cs typeface="Times New Roman" pitchFamily="18" charset="0"/>
              </a:rPr>
              <a:t>:</a:t>
            </a:r>
          </a:p>
          <a:p>
            <a:endParaRPr lang="en-IN" sz="1700" dirty="0">
              <a:latin typeface="Times New Roman" pitchFamily="18" charset="0"/>
              <a:cs typeface="Times New Roman" pitchFamily="18" charset="0"/>
            </a:endParaRPr>
          </a:p>
          <a:p>
            <a:pPr marL="285750" lvl="0" indent="-285750">
              <a:buFont typeface="Arial" pitchFamily="34" charset="0"/>
              <a:buChar char="•"/>
            </a:pPr>
            <a:r>
              <a:rPr lang="en-IN" sz="1700" dirty="0">
                <a:latin typeface="Times New Roman" pitchFamily="18" charset="0"/>
                <a:cs typeface="Times New Roman" pitchFamily="18" charset="0"/>
              </a:rPr>
              <a:t>Secure user interaction </a:t>
            </a:r>
            <a:endParaRPr lang="en-IN" sz="1700" dirty="0" smtClean="0">
              <a:latin typeface="Times New Roman" pitchFamily="18" charset="0"/>
              <a:cs typeface="Times New Roman" pitchFamily="18" charset="0"/>
            </a:endParaRPr>
          </a:p>
          <a:p>
            <a:pPr marL="285750" lvl="0" indent="-285750">
              <a:buFont typeface="Arial" pitchFamily="34" charset="0"/>
              <a:buChar char="•"/>
            </a:pPr>
            <a:r>
              <a:rPr lang="en-IN" sz="1700" dirty="0" smtClean="0">
                <a:latin typeface="Times New Roman" pitchFamily="18" charset="0"/>
                <a:cs typeface="Times New Roman" pitchFamily="18" charset="0"/>
              </a:rPr>
              <a:t>Efficient </a:t>
            </a:r>
            <a:r>
              <a:rPr lang="en-IN" sz="1700" dirty="0">
                <a:latin typeface="Times New Roman" pitchFamily="18" charset="0"/>
                <a:cs typeface="Times New Roman" pitchFamily="18" charset="0"/>
              </a:rPr>
              <a:t>item exchange management </a:t>
            </a:r>
            <a:endParaRPr lang="en-IN" sz="1700" dirty="0" smtClean="0">
              <a:latin typeface="Times New Roman" pitchFamily="18" charset="0"/>
              <a:cs typeface="Times New Roman" pitchFamily="18" charset="0"/>
            </a:endParaRPr>
          </a:p>
          <a:p>
            <a:pPr marL="285750" lvl="0" indent="-285750">
              <a:buFont typeface="Arial" pitchFamily="34" charset="0"/>
              <a:buChar char="•"/>
            </a:pPr>
            <a:r>
              <a:rPr lang="en-IN" sz="1700" dirty="0" smtClean="0">
                <a:latin typeface="Times New Roman" pitchFamily="18" charset="0"/>
                <a:cs typeface="Times New Roman" pitchFamily="18" charset="0"/>
              </a:rPr>
              <a:t>Community-based </a:t>
            </a:r>
            <a:r>
              <a:rPr lang="en-IN" sz="1700" dirty="0">
                <a:latin typeface="Times New Roman" pitchFamily="18" charset="0"/>
                <a:cs typeface="Times New Roman" pitchFamily="18" charset="0"/>
              </a:rPr>
              <a:t>sharing system </a:t>
            </a:r>
            <a:endParaRPr lang="en-IN" sz="1700" dirty="0" smtClean="0">
              <a:latin typeface="Times New Roman" pitchFamily="18" charset="0"/>
              <a:cs typeface="Times New Roman" pitchFamily="18" charset="0"/>
            </a:endParaRPr>
          </a:p>
          <a:p>
            <a:pPr marL="285750" lvl="0" indent="-285750">
              <a:buFont typeface="Arial" pitchFamily="34" charset="0"/>
              <a:buChar char="•"/>
            </a:pPr>
            <a:r>
              <a:rPr lang="en-IN" sz="1700" dirty="0" smtClean="0">
                <a:latin typeface="Times New Roman" pitchFamily="18" charset="0"/>
                <a:cs typeface="Times New Roman" pitchFamily="18" charset="0"/>
              </a:rPr>
              <a:t>Improved </a:t>
            </a:r>
            <a:r>
              <a:rPr lang="en-IN" sz="1700" dirty="0">
                <a:latin typeface="Times New Roman" pitchFamily="18" charset="0"/>
                <a:cs typeface="Times New Roman" pitchFamily="18" charset="0"/>
              </a:rPr>
              <a:t>accessibility to reusable goods </a:t>
            </a:r>
          </a:p>
          <a:p>
            <a:pPr>
              <a:lnSpc>
                <a:spcPct val="100000"/>
              </a:lnSpc>
              <a:spcBef>
                <a:spcPts val="400"/>
              </a:spcBef>
            </a:pPr>
            <a:endParaRPr lang="en-US" sz="1700" b="0" strike="noStrike" spc="-1"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2451387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itchFamily="18" charset="0"/>
                <a:cs typeface="Times New Roman" pitchFamily="18" charset="0"/>
              </a:rPr>
              <a:t>Conclusion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
        <p:nvSpPr>
          <p:cNvPr id="5" name="TextShape 2"/>
          <p:cNvSpPr txBox="1"/>
          <p:nvPr/>
        </p:nvSpPr>
        <p:spPr>
          <a:xfrm>
            <a:off x="164008" y="1462809"/>
            <a:ext cx="8838720" cy="4838571"/>
          </a:xfrm>
          <a:prstGeom prst="rect">
            <a:avLst/>
          </a:prstGeom>
          <a:noFill/>
          <a:ln w="9360">
            <a:noFill/>
          </a:ln>
        </p:spPr>
        <p:txBody>
          <a:bodyPr>
            <a:noAutofit/>
          </a:bodyPr>
          <a:lstStyle/>
          <a:p>
            <a:pPr algn="just"/>
            <a:r>
              <a:rPr lang="en-IN" sz="1700" dirty="0" err="1">
                <a:latin typeface="Times New Roman" pitchFamily="18" charset="0"/>
                <a:cs typeface="Times New Roman" pitchFamily="18" charset="0"/>
              </a:rPr>
              <a:t>Bartr</a:t>
            </a:r>
            <a:r>
              <a:rPr lang="en-IN" sz="1700" dirty="0">
                <a:latin typeface="Times New Roman" pitchFamily="18" charset="0"/>
                <a:cs typeface="Times New Roman" pitchFamily="18" charset="0"/>
              </a:rPr>
              <a:t> – </a:t>
            </a:r>
            <a:r>
              <a:rPr lang="en-IN" sz="1700" dirty="0" err="1">
                <a:latin typeface="Times New Roman" pitchFamily="18" charset="0"/>
                <a:cs typeface="Times New Roman" pitchFamily="18" charset="0"/>
              </a:rPr>
              <a:t>Give.Get.Go</a:t>
            </a:r>
            <a:r>
              <a:rPr lang="en-IN" sz="1700" dirty="0">
                <a:latin typeface="Times New Roman" pitchFamily="18" charset="0"/>
                <a:cs typeface="Times New Roman" pitchFamily="18" charset="0"/>
              </a:rPr>
              <a:t> successfully modernizes the traditional barter system through a secure and user-friendly digital platform. The system promotes sustainable living, encourages the reuse of unused items, and reduces environmental waste by eliminating monetary transactions.</a:t>
            </a:r>
          </a:p>
          <a:p>
            <a:pPr algn="just"/>
            <a:r>
              <a:rPr lang="en-IN" sz="1700" dirty="0">
                <a:latin typeface="Times New Roman" pitchFamily="18" charset="0"/>
                <a:cs typeface="Times New Roman" pitchFamily="18" charset="0"/>
              </a:rPr>
              <a:t>The integration of secure authentication, real-time communication, and location-based filtering creates a transparent and efficient exchange ecosystem. The project demonstrates how technology can support sustainability while strengthening community </a:t>
            </a:r>
            <a:r>
              <a:rPr lang="en-IN" sz="1700" dirty="0" smtClean="0">
                <a:latin typeface="Times New Roman" pitchFamily="18" charset="0"/>
                <a:cs typeface="Times New Roman" pitchFamily="18" charset="0"/>
              </a:rPr>
              <a:t>interaction.</a:t>
            </a:r>
            <a:endParaRPr lang="en-US" sz="1700" b="0" strike="noStrike" spc="-1"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2873229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itchFamily="18" charset="0"/>
                <a:cs typeface="Times New Roman" pitchFamily="18" charset="0"/>
              </a:rPr>
              <a:t>Future Scope</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
        <p:nvSpPr>
          <p:cNvPr id="5" name="TextShape 2"/>
          <p:cNvSpPr txBox="1"/>
          <p:nvPr/>
        </p:nvSpPr>
        <p:spPr>
          <a:xfrm>
            <a:off x="164008" y="1390385"/>
            <a:ext cx="8838720" cy="4838571"/>
          </a:xfrm>
          <a:prstGeom prst="rect">
            <a:avLst/>
          </a:prstGeom>
          <a:noFill/>
          <a:ln w="9360">
            <a:noFill/>
          </a:ln>
        </p:spPr>
        <p:txBody>
          <a:bodyPr>
            <a:noAutofit/>
          </a:bodyPr>
          <a:lstStyle/>
          <a:p>
            <a:r>
              <a:rPr lang="en-IN" sz="1700" dirty="0">
                <a:latin typeface="Times New Roman" pitchFamily="18" charset="0"/>
                <a:cs typeface="Times New Roman" pitchFamily="18" charset="0"/>
              </a:rPr>
              <a:t>The platform can be further enhanced with additional features such as</a:t>
            </a:r>
            <a:r>
              <a:rPr lang="en-IN" sz="1700" dirty="0" smtClean="0">
                <a:latin typeface="Times New Roman" pitchFamily="18" charset="0"/>
                <a:cs typeface="Times New Roman" pitchFamily="18" charset="0"/>
              </a:rPr>
              <a:t>:</a:t>
            </a:r>
          </a:p>
          <a:p>
            <a:endParaRPr lang="en-IN" sz="1700" dirty="0">
              <a:latin typeface="Times New Roman" pitchFamily="18" charset="0"/>
              <a:cs typeface="Times New Roman" pitchFamily="18" charset="0"/>
            </a:endParaRPr>
          </a:p>
          <a:p>
            <a:pPr marL="285750" lvl="0" indent="-285750">
              <a:buFont typeface="Arial" pitchFamily="34" charset="0"/>
              <a:buChar char="•"/>
            </a:pPr>
            <a:r>
              <a:rPr lang="en-IN" sz="1700" dirty="0">
                <a:latin typeface="Times New Roman" pitchFamily="18" charset="0"/>
                <a:cs typeface="Times New Roman" pitchFamily="18" charset="0"/>
              </a:rPr>
              <a:t>Mobile application support </a:t>
            </a:r>
          </a:p>
          <a:p>
            <a:pPr marL="285750" lvl="0" indent="-285750">
              <a:buFont typeface="Arial" pitchFamily="34" charset="0"/>
              <a:buChar char="•"/>
            </a:pPr>
            <a:r>
              <a:rPr lang="en-IN" sz="1700" dirty="0">
                <a:latin typeface="Times New Roman" pitchFamily="18" charset="0"/>
                <a:cs typeface="Times New Roman" pitchFamily="18" charset="0"/>
              </a:rPr>
              <a:t>AI-based item recommendations </a:t>
            </a:r>
          </a:p>
          <a:p>
            <a:pPr marL="285750" lvl="0" indent="-285750">
              <a:buFont typeface="Arial" pitchFamily="34" charset="0"/>
              <a:buChar char="•"/>
            </a:pPr>
            <a:r>
              <a:rPr lang="en-IN" sz="1700" dirty="0">
                <a:latin typeface="Times New Roman" pitchFamily="18" charset="0"/>
                <a:cs typeface="Times New Roman" pitchFamily="18" charset="0"/>
              </a:rPr>
              <a:t>Reputation and rating system </a:t>
            </a:r>
          </a:p>
          <a:p>
            <a:pPr marL="285750" lvl="0" indent="-285750">
              <a:buFont typeface="Arial" pitchFamily="34" charset="0"/>
              <a:buChar char="•"/>
            </a:pPr>
            <a:r>
              <a:rPr lang="en-IN" sz="1700" dirty="0">
                <a:latin typeface="Times New Roman" pitchFamily="18" charset="0"/>
                <a:cs typeface="Times New Roman" pitchFamily="18" charset="0"/>
              </a:rPr>
              <a:t>Multi-language support </a:t>
            </a:r>
          </a:p>
          <a:p>
            <a:pPr marL="285750" lvl="0" indent="-285750">
              <a:buFont typeface="Arial" pitchFamily="34" charset="0"/>
              <a:buChar char="•"/>
            </a:pPr>
            <a:r>
              <a:rPr lang="en-IN" sz="1700" dirty="0">
                <a:latin typeface="Times New Roman" pitchFamily="18" charset="0"/>
                <a:cs typeface="Times New Roman" pitchFamily="18" charset="0"/>
              </a:rPr>
              <a:t>Image recognition for item categorization </a:t>
            </a:r>
          </a:p>
          <a:p>
            <a:pPr marL="285750" lvl="0" indent="-285750">
              <a:buFont typeface="Arial" pitchFamily="34" charset="0"/>
              <a:buChar char="•"/>
            </a:pPr>
            <a:r>
              <a:rPr lang="en-IN" sz="1700" dirty="0" err="1">
                <a:latin typeface="Times New Roman" pitchFamily="18" charset="0"/>
                <a:cs typeface="Times New Roman" pitchFamily="18" charset="0"/>
              </a:rPr>
              <a:t>Blockchain</a:t>
            </a:r>
            <a:r>
              <a:rPr lang="en-IN" sz="1700" dirty="0">
                <a:latin typeface="Times New Roman" pitchFamily="18" charset="0"/>
                <a:cs typeface="Times New Roman" pitchFamily="18" charset="0"/>
              </a:rPr>
              <a:t>-based exchange verification </a:t>
            </a:r>
          </a:p>
          <a:p>
            <a:pPr marL="285750" lvl="0" indent="-285750">
              <a:buFont typeface="Arial" pitchFamily="34" charset="0"/>
              <a:buChar char="•"/>
            </a:pPr>
            <a:r>
              <a:rPr lang="en-IN" sz="1700" dirty="0">
                <a:latin typeface="Times New Roman" pitchFamily="18" charset="0"/>
                <a:cs typeface="Times New Roman" pitchFamily="18" charset="0"/>
              </a:rPr>
              <a:t>Advanced fraud detection systems </a:t>
            </a:r>
            <a:endParaRPr lang="en-IN" sz="1700" dirty="0" smtClean="0">
              <a:latin typeface="Times New Roman" pitchFamily="18" charset="0"/>
              <a:cs typeface="Times New Roman" pitchFamily="18" charset="0"/>
            </a:endParaRPr>
          </a:p>
          <a:p>
            <a:pPr lvl="0"/>
            <a:endParaRPr lang="en-IN" sz="1700" dirty="0">
              <a:latin typeface="Times New Roman" pitchFamily="18" charset="0"/>
              <a:cs typeface="Times New Roman" pitchFamily="18" charset="0"/>
            </a:endParaRPr>
          </a:p>
          <a:p>
            <a:r>
              <a:rPr lang="en-IN" sz="1700" dirty="0">
                <a:latin typeface="Times New Roman" pitchFamily="18" charset="0"/>
                <a:cs typeface="Times New Roman" pitchFamily="18" charset="0"/>
              </a:rPr>
              <a:t>These improvements can increase scalability, user trust, and overall platform efficiency.</a:t>
            </a:r>
          </a:p>
          <a:p>
            <a:pPr>
              <a:lnSpc>
                <a:spcPct val="100000"/>
              </a:lnSpc>
              <a:spcBef>
                <a:spcPts val="400"/>
              </a:spcBef>
            </a:pPr>
            <a:endParaRPr lang="en-US" sz="1700" b="0" strike="noStrike" spc="-1"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2252830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r>
              <a:rPr lang="en-IN" sz="3200" dirty="0" smtClean="0">
                <a:latin typeface="Times New Roman" pitchFamily="18" charset="0"/>
                <a:cs typeface="Times New Roman" pitchFamily="18" charset="0"/>
              </a:rPr>
              <a:t>References</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sp>
        <p:nvSpPr>
          <p:cNvPr id="5" name="TextShape 2"/>
          <p:cNvSpPr txBox="1"/>
          <p:nvPr/>
        </p:nvSpPr>
        <p:spPr>
          <a:xfrm>
            <a:off x="164008" y="1390385"/>
            <a:ext cx="8838720" cy="4838571"/>
          </a:xfrm>
          <a:prstGeom prst="rect">
            <a:avLst/>
          </a:prstGeom>
          <a:noFill/>
          <a:ln w="9360">
            <a:noFill/>
          </a:ln>
        </p:spPr>
        <p:txBody>
          <a:bodyPr>
            <a:noAutofit/>
          </a:bodyPr>
          <a:lstStyle/>
          <a:p>
            <a:pPr marL="342900" lvl="0" indent="-342900">
              <a:buFont typeface="+mj-lt"/>
              <a:buAutoNum type="arabicPeriod"/>
            </a:pPr>
            <a:r>
              <a:rPr lang="en-IN" sz="1700" dirty="0">
                <a:latin typeface="Times New Roman" pitchFamily="18" charset="0"/>
                <a:cs typeface="Times New Roman" pitchFamily="18" charset="0"/>
              </a:rPr>
              <a:t>Research papers on sustainable consumption and waste management. </a:t>
            </a:r>
          </a:p>
          <a:p>
            <a:pPr marL="342900" lvl="0" indent="-342900">
              <a:buFont typeface="+mj-lt"/>
              <a:buAutoNum type="arabicPeriod"/>
            </a:pPr>
            <a:r>
              <a:rPr lang="en-IN" sz="1700" dirty="0">
                <a:latin typeface="Times New Roman" pitchFamily="18" charset="0"/>
                <a:cs typeface="Times New Roman" pitchFamily="18" charset="0"/>
              </a:rPr>
              <a:t>MDN Web Docs – JavaScript Documentation. </a:t>
            </a:r>
          </a:p>
          <a:p>
            <a:pPr marL="342900" lvl="0" indent="-342900">
              <a:buFont typeface="+mj-lt"/>
              <a:buAutoNum type="arabicPeriod"/>
            </a:pPr>
            <a:r>
              <a:rPr lang="en-IN" sz="1700" dirty="0" err="1">
                <a:latin typeface="Times New Roman" pitchFamily="18" charset="0"/>
                <a:cs typeface="Times New Roman" pitchFamily="18" charset="0"/>
              </a:rPr>
              <a:t>MongoDB</a:t>
            </a:r>
            <a:r>
              <a:rPr lang="en-IN" sz="1700" dirty="0">
                <a:latin typeface="Times New Roman" pitchFamily="18" charset="0"/>
                <a:cs typeface="Times New Roman" pitchFamily="18" charset="0"/>
              </a:rPr>
              <a:t> Official Documentation. </a:t>
            </a:r>
          </a:p>
          <a:p>
            <a:pPr marL="342900" lvl="0" indent="-342900">
              <a:buFont typeface="+mj-lt"/>
              <a:buAutoNum type="arabicPeriod"/>
            </a:pPr>
            <a:r>
              <a:rPr lang="en-IN" sz="1700" dirty="0">
                <a:latin typeface="Times New Roman" pitchFamily="18" charset="0"/>
                <a:cs typeface="Times New Roman" pitchFamily="18" charset="0"/>
              </a:rPr>
              <a:t>Node.js Official Documentation. </a:t>
            </a:r>
          </a:p>
          <a:p>
            <a:pPr marL="342900" lvl="0" indent="-342900">
              <a:buFont typeface="+mj-lt"/>
              <a:buAutoNum type="arabicPeriod"/>
            </a:pPr>
            <a:r>
              <a:rPr lang="en-IN" sz="1700" dirty="0">
                <a:latin typeface="Times New Roman" pitchFamily="18" charset="0"/>
                <a:cs typeface="Times New Roman" pitchFamily="18" charset="0"/>
              </a:rPr>
              <a:t>React.js Official Documentation. </a:t>
            </a:r>
          </a:p>
          <a:p>
            <a:pPr marL="342900" lvl="0" indent="-342900">
              <a:buFont typeface="+mj-lt"/>
              <a:buAutoNum type="arabicPeriod"/>
            </a:pPr>
            <a:r>
              <a:rPr lang="en-IN" sz="1700" dirty="0">
                <a:latin typeface="Times New Roman" pitchFamily="18" charset="0"/>
                <a:cs typeface="Times New Roman" pitchFamily="18" charset="0"/>
              </a:rPr>
              <a:t>JWT Authentication Documentation. </a:t>
            </a:r>
          </a:p>
        </p:txBody>
      </p:sp>
    </p:spTree>
    <p:extLst>
      <p:ext uri="{BB962C8B-B14F-4D97-AF65-F5344CB8AC3E}">
        <p14:creationId xmlns:p14="http://schemas.microsoft.com/office/powerpoint/2010/main" val="1667268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34783</TotalTime>
  <Words>727</Words>
  <Application>Microsoft Office PowerPoint</Application>
  <PresentationFormat>On-screen Show (4:3)</PresentationFormat>
  <Paragraphs>130</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Problem Background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Ayush</cp:lastModifiedBy>
  <cp:revision>2306</cp:revision>
  <dcterms:created xsi:type="dcterms:W3CDTF">2010-04-09T07:36:15Z</dcterms:created>
  <dcterms:modified xsi:type="dcterms:W3CDTF">2026-05-16T16:15:01Z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